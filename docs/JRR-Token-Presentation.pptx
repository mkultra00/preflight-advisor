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398467a-ab81-5af7-b083-ffa55e643f2e}">
          <p14:sldIdLst>
            <p14:sldId id="256"/>
            <p14:sldId id="257"/>
          </p14:sldIdLst>
        </p14:section>
        <p14:section name="Problem" id="{19e70bb2-e8c7-cecf-c613-05a91da69e34}">
          <p14:sldIdLst>
            <p14:sldId id="258"/>
          </p14:sldIdLst>
        </p14:section>
        <p14:section name="Solution" id="{cf733d8c-1b51-a6c9-26ef-5e307f56c291}">
          <p14:sldIdLst>
            <p14:sldId id="259"/>
          </p14:sldIdLst>
        </p14:section>
        <p14:section name="How we built it" id="{00dc7cbe-496e-73e2-f173-c756d6d3ac37}">
          <p14:sldIdLst>
            <p14:sldId id="260"/>
          </p14:sldIdLst>
        </p14:section>
        <p14:section name="Features" id="{5c6d9a87-6925-4124-0798-3c6622112469}">
          <p14:sldIdLst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E1913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0E1913"/>
                </a:solidFill>
                <a:latin typeface="+mj-lt"/>
              </a:rPr>
              <a:t>Our 60-operation stress batch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Operations</c:v>
                </c:pt>
              </c:strCache>
            </c:strRef>
          </c:tx>
          <c:spPr>
            <a:solidFill>
              <a:srgbClr val="CC282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E191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Normal</c:v>
                  </c:pt>
                  <c:pt idx="1">
                    <c:v>Same-team drain</c:v>
                  </c:pt>
                  <c:pt idx="2">
                    <c:v>Over cap</c:v>
                  </c:pt>
                  <c:pt idx="3">
                    <c:v>Ineligible team</c:v>
                  </c:pt>
                  <c:pt idx="4">
                    <c:v>Expired program</c:v>
                  </c:pt>
                  <c:pt idx="5">
                    <c:v>Cross-program</c:v>
                  </c:pt>
                  <c:pt idx="6">
                    <c:v>Prompt injection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30</c:v>
                </c:pt>
                <c:pt idx="1">
                  <c:v>16</c:v>
                </c:pt>
                <c:pt idx="2">
                  <c:v>5</c:v>
                </c:pt>
                <c:pt idx="3">
                  <c:v>3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E191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4615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JRR Token stands for Just Really Reliable. We built an AI agent that handles credit moves for an issuer-run program, and we designed it so the AI can never break the books.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setting: an issuer runs a credit program. Each team gets a grant, there is a per-team cap, some teams can be ineligible, and the program expires. Teams return or request credits, and our AI agent processes each request.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just give an LLM tools that move money, it will eventually skip a step, race another request, break a program rule, or follow instructions hidden in user text. Our stress batch packs all of these cases into 60 operations. Our deliberately naive v1 agent turns the reconciliation page 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key idea: the model only chooses which tool to call next. All the money arithmetic and rule enforcement lives in locked-down Postgres functions. If the database refuses a move, the agent flags it for an admin and stops. With v2, the same 60-operation batch fully reconciles.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built the whole app in Lovable, which generated a TanStack Start and React app backed by Supabase. Money rules are Postgres functions; the audit table has a trigger that blocks updates and deletes. The agent loop runs on the server and calls Claude Haiku, falling back to Gemini Flash. Every model turn is traced in PRISM.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app has six main views plus a How to Use guide with a narrated walkthrough video. The demo story: seed data, run the batch on v1 and watch reconciliation go red, reset, run on v2 and everything reconciles.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Thanks! Questions welcome.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1206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14600"/>
            <a:ext cx="51206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JRR TOKEN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preflight-advisor.lovable.app" TargetMode="Externa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vent"/>
          <p:cNvSpPr txBox="1"/>
          <p:nvPr/>
        </p:nvSpPr>
        <p:spPr>
          <a:xfrm>
            <a:off x="548640" y="9601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MONEY TALKS 2 HACKATHON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1732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JRR Token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5146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Just Really Reliable: an AI agent that moves program credits without ever breaking the ledger</a:t>
            </a:r>
            <a:endParaRPr lang="en-US" sz="1800" dirty="0"/>
          </a:p>
        </p:txBody>
      </p:sp>
      <p:sp>
        <p:nvSpPr>
          <p:cNvPr id="5" name="Team"/>
          <p:cNvSpPr txBox="1"/>
          <p:nvPr/>
        </p:nvSpPr>
        <p:spPr>
          <a:xfrm>
            <a:off x="548640" y="4160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Frank Yu  ·  Liyan Cheung  ·  Forrest Pan</a:t>
            </a:r>
            <a:endParaRPr lang="en-US" sz="1400" dirty="0"/>
          </a:p>
        </p:txBody>
      </p:sp>
      <p:sp>
        <p:nvSpPr>
          <p:cNvPr id="6" name="Avatar frame"/>
          <p:cNvSpPr/>
          <p:nvPr/>
        </p:nvSpPr>
        <p:spPr>
          <a:xfrm>
            <a:off x="6172200" y="1097280"/>
            <a:ext cx="2468880" cy="2468880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accent3"/>
            </a:solidFill>
            <a:prstDash val="solid"/>
          </a:ln>
        </p:spPr>
      </p:sp>
      <p:pic>
        <p:nvPicPr>
          <p:cNvPr id="7" name="Avatar" descr="JRR Token cat-wizard masc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234440"/>
            <a:ext cx="2194560" cy="2194560"/>
          </a:xfrm>
          <a:prstGeom prst="ellipse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Teams need to move credits, safely</a:t>
            </a:r>
            <a:endParaRPr lang="en-US" sz="3000" dirty="0"/>
          </a:p>
        </p:txBody>
      </p:sp>
      <p:sp>
        <p:nvSpPr>
          <p:cNvPr id="4" name="Intro text"/>
          <p:cNvSpPr txBox="1"/>
          <p:nvPr/>
        </p:nvSpPr>
        <p:spPr>
          <a:xfrm>
            <a:off x="548640" y="123444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An issuer funds a program (like hackathon credits) and gives every team a grant.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Teams return unused credits to the pool or request more when they run short.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JRR Token hands each request to an AI agent, which checks the rules, moves the credits and explains what it did.</a:t>
            </a:r>
            <a:endParaRPr lang="en-US" sz="1600" dirty="0"/>
          </a:p>
        </p:txBody>
      </p:sp>
      <p:sp>
        <p:nvSpPr>
          <p:cNvPr id="5" name="Rule card 1"/>
          <p:cNvSpPr/>
          <p:nvPr/>
        </p:nvSpPr>
        <p:spPr>
          <a:xfrm>
            <a:off x="5120640" y="1234440"/>
            <a:ext cx="164592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Rule value 1"/>
          <p:cNvSpPr txBox="1"/>
          <p:nvPr/>
        </p:nvSpPr>
        <p:spPr>
          <a:xfrm>
            <a:off x="5257800" y="134416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$260</a:t>
            </a:r>
            <a:endParaRPr lang="en-US" sz="2600" dirty="0"/>
          </a:p>
        </p:txBody>
      </p:sp>
      <p:sp>
        <p:nvSpPr>
          <p:cNvPr id="7" name="Rule label 1"/>
          <p:cNvSpPr txBox="1"/>
          <p:nvPr/>
        </p:nvSpPr>
        <p:spPr>
          <a:xfrm>
            <a:off x="5257800" y="1837944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starting grant per team</a:t>
            </a:r>
            <a:endParaRPr lang="en-US" sz="1100" dirty="0"/>
          </a:p>
        </p:txBody>
      </p:sp>
      <p:sp>
        <p:nvSpPr>
          <p:cNvPr id="8" name="Rule card 2"/>
          <p:cNvSpPr/>
          <p:nvPr/>
        </p:nvSpPr>
        <p:spPr>
          <a:xfrm>
            <a:off x="6903720" y="1234440"/>
            <a:ext cx="164592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Rule value 2"/>
          <p:cNvSpPr txBox="1"/>
          <p:nvPr/>
        </p:nvSpPr>
        <p:spPr>
          <a:xfrm>
            <a:off x="7040880" y="134416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$600</a:t>
            </a:r>
            <a:endParaRPr lang="en-US" sz="2600" dirty="0"/>
          </a:p>
        </p:txBody>
      </p:sp>
      <p:sp>
        <p:nvSpPr>
          <p:cNvPr id="10" name="Rule label 2"/>
          <p:cNvSpPr txBox="1"/>
          <p:nvPr/>
        </p:nvSpPr>
        <p:spPr>
          <a:xfrm>
            <a:off x="7040880" y="1837944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per-team cap</a:t>
            </a:r>
            <a:endParaRPr lang="en-US" sz="1100" dirty="0"/>
          </a:p>
        </p:txBody>
      </p:sp>
      <p:sp>
        <p:nvSpPr>
          <p:cNvPr id="11" name="Rule card 3"/>
          <p:cNvSpPr/>
          <p:nvPr/>
        </p:nvSpPr>
        <p:spPr>
          <a:xfrm>
            <a:off x="5120640" y="2468880"/>
            <a:ext cx="164592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Rule value 3"/>
          <p:cNvSpPr txBox="1"/>
          <p:nvPr/>
        </p:nvSpPr>
        <p:spPr>
          <a:xfrm>
            <a:off x="5257800" y="257860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600" dirty="0"/>
          </a:p>
        </p:txBody>
      </p:sp>
      <p:sp>
        <p:nvSpPr>
          <p:cNvPr id="13" name="Rule label 3"/>
          <p:cNvSpPr txBox="1"/>
          <p:nvPr/>
        </p:nvSpPr>
        <p:spPr>
          <a:xfrm>
            <a:off x="5257800" y="3072384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teams in the sample program</a:t>
            </a:r>
            <a:endParaRPr lang="en-US" sz="1100" dirty="0"/>
          </a:p>
        </p:txBody>
      </p:sp>
      <p:sp>
        <p:nvSpPr>
          <p:cNvPr id="14" name="Rule card 4"/>
          <p:cNvSpPr/>
          <p:nvPr/>
        </p:nvSpPr>
        <p:spPr>
          <a:xfrm>
            <a:off x="6903720" y="2468880"/>
            <a:ext cx="164592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Rule value 4"/>
          <p:cNvSpPr txBox="1"/>
          <p:nvPr/>
        </p:nvSpPr>
        <p:spPr>
          <a:xfrm>
            <a:off x="7040880" y="257860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Expiry</a:t>
            </a:r>
            <a:endParaRPr lang="en-US" sz="2600" dirty="0"/>
          </a:p>
        </p:txBody>
      </p:sp>
      <p:sp>
        <p:nvSpPr>
          <p:cNvPr id="16" name="Rule label 4"/>
          <p:cNvSpPr txBox="1"/>
          <p:nvPr/>
        </p:nvSpPr>
        <p:spPr>
          <a:xfrm>
            <a:off x="7040880" y="3072384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date after which no credit moves</a:t>
            </a:r>
            <a:endParaRPr lang="en-US" sz="1100" dirty="0"/>
          </a:p>
        </p:txBody>
      </p:sp>
      <p:sp>
        <p:nvSpPr>
          <p:cNvPr id="17" name="Caption"/>
          <p:cNvSpPr txBox="1"/>
          <p:nvPr/>
        </p:nvSpPr>
        <p:spPr>
          <a:xfrm>
            <a:off x="5120640" y="37490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Sample program rules from our demo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agents with ledger access can lose money</a:t>
            </a:r>
            <a:endParaRPr lang="en-US" sz="3000" dirty="0"/>
          </a:p>
        </p:txBody>
      </p:sp>
      <p:sp>
        <p:nvSpPr>
          <p:cNvPr id="4" name="Risk icon bg 1"/>
          <p:cNvSpPr/>
          <p:nvPr/>
        </p:nvSpPr>
        <p:spPr>
          <a:xfrm>
            <a:off x="548640" y="118872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5" name="Risk icon 1" descr="Skipped step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274320" cy="274320"/>
          </a:xfrm>
          <a:prstGeom prst="rect">
            <a:avLst/>
          </a:prstGeom>
        </p:spPr>
      </p:pic>
      <p:sp>
        <p:nvSpPr>
          <p:cNvPr id="6" name="Risk text 1"/>
          <p:cNvSpPr txBox="1"/>
          <p:nvPr/>
        </p:nvSpPr>
        <p:spPr>
          <a:xfrm>
            <a:off x="1280160" y="11430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Skipped steps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 loosely prompted agent skips the reservation or does steps out of order.</a:t>
            </a:r>
            <a:endParaRPr lang="en-US" sz="1500" dirty="0"/>
          </a:p>
        </p:txBody>
      </p:sp>
      <p:sp>
        <p:nvSpPr>
          <p:cNvPr id="7" name="Risk icon bg 2"/>
          <p:cNvSpPr/>
          <p:nvPr/>
        </p:nvSpPr>
        <p:spPr>
          <a:xfrm>
            <a:off x="548640" y="201168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8" name="Risk icon 2" descr="Race conditio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48840"/>
            <a:ext cx="274320" cy="274320"/>
          </a:xfrm>
          <a:prstGeom prst="rect">
            <a:avLst/>
          </a:prstGeom>
        </p:spPr>
      </p:pic>
      <p:sp>
        <p:nvSpPr>
          <p:cNvPr id="9" name="Risk text 2"/>
          <p:cNvSpPr txBox="1"/>
          <p:nvPr/>
        </p:nvSpPr>
        <p:spPr>
          <a:xfrm>
            <a:off x="1280160" y="196596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Race conditions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Two requests drain the same team at once and overdraw it.</a:t>
            </a:r>
            <a:endParaRPr lang="en-US" sz="1500" dirty="0"/>
          </a:p>
        </p:txBody>
      </p:sp>
      <p:sp>
        <p:nvSpPr>
          <p:cNvPr id="10" name="Risk icon bg 3"/>
          <p:cNvSpPr/>
          <p:nvPr/>
        </p:nvSpPr>
        <p:spPr>
          <a:xfrm>
            <a:off x="548640" y="283464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1" name="Risk icon 3" descr="Broken ru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971800"/>
            <a:ext cx="274320" cy="274320"/>
          </a:xfrm>
          <a:prstGeom prst="rect">
            <a:avLst/>
          </a:prstGeom>
        </p:spPr>
      </p:pic>
      <p:sp>
        <p:nvSpPr>
          <p:cNvPr id="12" name="Risk text 3"/>
          <p:cNvSpPr txBox="1"/>
          <p:nvPr/>
        </p:nvSpPr>
        <p:spPr>
          <a:xfrm>
            <a:off x="1280160" y="278892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Broken rules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Over-cap, ineligible-team, expired and cross-program moves slip through.</a:t>
            </a:r>
            <a:endParaRPr lang="en-US" sz="1500" dirty="0"/>
          </a:p>
        </p:txBody>
      </p:sp>
      <p:sp>
        <p:nvSpPr>
          <p:cNvPr id="13" name="Risk icon bg 4"/>
          <p:cNvSpPr/>
          <p:nvPr/>
        </p:nvSpPr>
        <p:spPr>
          <a:xfrm>
            <a:off x="548640" y="365760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4" name="Risk icon 4" descr="Prompt injec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794760"/>
            <a:ext cx="274320" cy="274320"/>
          </a:xfrm>
          <a:prstGeom prst="rect">
            <a:avLst/>
          </a:prstGeom>
        </p:spPr>
      </p:pic>
      <p:sp>
        <p:nvSpPr>
          <p:cNvPr id="15" name="Risk text 4"/>
          <p:cNvSpPr txBox="1"/>
          <p:nvPr/>
        </p:nvSpPr>
        <p:spPr>
          <a:xfrm>
            <a:off x="1280160" y="36118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Prompt injection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 note on the request tells the agent to ignore the rules.</a:t>
            </a:r>
            <a:endParaRPr lang="en-US" sz="1500" dirty="0"/>
          </a:p>
        </p:txBody>
      </p:sp>
      <p:graphicFrame>
        <p:nvGraphicFramePr>
          <p:cNvPr id="16" name="Batch chart" descr=""/>
          <p:cNvGraphicFramePr/>
          <p:nvPr/>
        </p:nvGraphicFramePr>
        <p:xfrm>
          <a:off x="4937760" y="1097280"/>
          <a:ext cx="37490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WE SOLVED IT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picks the steps; the database moves money</a:t>
            </a:r>
            <a:endParaRPr lang="en-US" sz="3000" dirty="0"/>
          </a:p>
        </p:txBody>
      </p:sp>
      <p:sp>
        <p:nvSpPr>
          <p:cNvPr id="4" name="Stage card 1"/>
          <p:cNvSpPr/>
          <p:nvPr/>
        </p:nvSpPr>
        <p:spPr>
          <a:xfrm>
            <a:off x="548640" y="1280160"/>
            <a:ext cx="1463040" cy="16916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Stage icon 1" descr="Reque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44752"/>
            <a:ext cx="329184" cy="329184"/>
          </a:xfrm>
          <a:prstGeom prst="rect">
            <a:avLst/>
          </a:prstGeom>
        </p:spPr>
      </p:pic>
      <p:sp>
        <p:nvSpPr>
          <p:cNvPr id="6" name="Stage num 1"/>
          <p:cNvSpPr txBox="1"/>
          <p:nvPr/>
        </p:nvSpPr>
        <p:spPr>
          <a:xfrm>
            <a:off x="1554480" y="1417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tage text 1"/>
          <p:cNvSpPr txBox="1"/>
          <p:nvPr/>
        </p:nvSpPr>
        <p:spPr>
          <a:xfrm>
            <a:off x="685800" y="187452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Request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A team returns or requests credits</a:t>
            </a:r>
            <a:endParaRPr lang="en-US" sz="1400" dirty="0"/>
          </a:p>
        </p:txBody>
      </p:sp>
      <p:sp>
        <p:nvSpPr>
          <p:cNvPr id="8" name="Stage card 2"/>
          <p:cNvSpPr/>
          <p:nvPr/>
        </p:nvSpPr>
        <p:spPr>
          <a:xfrm>
            <a:off x="2194560" y="1280160"/>
            <a:ext cx="1463040" cy="16916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9" name="Stage icon 2" descr="Rules 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1444752"/>
            <a:ext cx="329184" cy="329184"/>
          </a:xfrm>
          <a:prstGeom prst="rect">
            <a:avLst/>
          </a:prstGeom>
        </p:spPr>
      </p:pic>
      <p:sp>
        <p:nvSpPr>
          <p:cNvPr id="10" name="Stage num 2"/>
          <p:cNvSpPr txBox="1"/>
          <p:nvPr/>
        </p:nvSpPr>
        <p:spPr>
          <a:xfrm>
            <a:off x="3200400" y="1417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Stage text 2"/>
          <p:cNvSpPr txBox="1"/>
          <p:nvPr/>
        </p:nvSpPr>
        <p:spPr>
          <a:xfrm>
            <a:off x="2331720" y="187452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Rules check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Budget, cap, expiry and eligibility load</a:t>
            </a:r>
            <a:endParaRPr lang="en-US" sz="1400" dirty="0"/>
          </a:p>
        </p:txBody>
      </p:sp>
      <p:sp>
        <p:nvSpPr>
          <p:cNvPr id="12" name="Stage card 3"/>
          <p:cNvSpPr/>
          <p:nvPr/>
        </p:nvSpPr>
        <p:spPr>
          <a:xfrm>
            <a:off x="3840480" y="1280160"/>
            <a:ext cx="1463040" cy="16916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Stage icon 3" descr="AI agen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1444752"/>
            <a:ext cx="329184" cy="329184"/>
          </a:xfrm>
          <a:prstGeom prst="rect">
            <a:avLst/>
          </a:prstGeom>
        </p:spPr>
      </p:pic>
      <p:sp>
        <p:nvSpPr>
          <p:cNvPr id="14" name="Stage num 3"/>
          <p:cNvSpPr txBox="1"/>
          <p:nvPr/>
        </p:nvSpPr>
        <p:spPr>
          <a:xfrm>
            <a:off x="4846320" y="1417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Stage text 3"/>
          <p:cNvSpPr txBox="1"/>
          <p:nvPr/>
        </p:nvSpPr>
        <p:spPr>
          <a:xfrm>
            <a:off x="3977640" y="187452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AI agent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Calls tools in a fixed order</a:t>
            </a:r>
            <a:endParaRPr lang="en-US" sz="1400" dirty="0"/>
          </a:p>
        </p:txBody>
      </p:sp>
      <p:sp>
        <p:nvSpPr>
          <p:cNvPr id="16" name="Stage card 4"/>
          <p:cNvSpPr/>
          <p:nvPr/>
        </p:nvSpPr>
        <p:spPr>
          <a:xfrm>
            <a:off x="5486400" y="1280160"/>
            <a:ext cx="1463040" cy="169164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Stage icon 4" descr="Database guar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1444752"/>
            <a:ext cx="329184" cy="329184"/>
          </a:xfrm>
          <a:prstGeom prst="rect">
            <a:avLst/>
          </a:prstGeom>
        </p:spPr>
      </p:pic>
      <p:sp>
        <p:nvSpPr>
          <p:cNvPr id="18" name="Stage num 4"/>
          <p:cNvSpPr txBox="1"/>
          <p:nvPr/>
        </p:nvSpPr>
        <p:spPr>
          <a:xfrm>
            <a:off x="6492240" y="1417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Stage text 4"/>
          <p:cNvSpPr txBox="1"/>
          <p:nvPr/>
        </p:nvSpPr>
        <p:spPr>
          <a:xfrm>
            <a:off x="5623560" y="187452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Database guard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Locked Postgres functions allow or block</a:t>
            </a:r>
            <a:endParaRPr lang="en-US" sz="1400" dirty="0"/>
          </a:p>
        </p:txBody>
      </p:sp>
      <p:sp>
        <p:nvSpPr>
          <p:cNvPr id="20" name="Stage card 5"/>
          <p:cNvSpPr/>
          <p:nvPr/>
        </p:nvSpPr>
        <p:spPr>
          <a:xfrm>
            <a:off x="7132320" y="1280160"/>
            <a:ext cx="1463040" cy="16916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1" name="Stage icon 5" descr="Reconcile &amp; audi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1444752"/>
            <a:ext cx="329184" cy="329184"/>
          </a:xfrm>
          <a:prstGeom prst="rect">
            <a:avLst/>
          </a:prstGeom>
        </p:spPr>
      </p:pic>
      <p:sp>
        <p:nvSpPr>
          <p:cNvPr id="22" name="Stage num 5"/>
          <p:cNvSpPr txBox="1"/>
          <p:nvPr/>
        </p:nvSpPr>
        <p:spPr>
          <a:xfrm>
            <a:off x="8138160" y="1417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Stage text 5"/>
          <p:cNvSpPr txBox="1"/>
          <p:nvPr/>
        </p:nvSpPr>
        <p:spPr>
          <a:xfrm>
            <a:off x="7269480" y="187452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Reconcile &amp; audit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Ledger checked, every event logged</a:t>
            </a:r>
            <a:endParaRPr lang="en-US" sz="1400" dirty="0"/>
          </a:p>
        </p:txBody>
      </p:sp>
      <p:pic>
        <p:nvPicPr>
          <p:cNvPr id="24" name="Guard icon 1" descr="che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291840"/>
            <a:ext cx="256032" cy="256032"/>
          </a:xfrm>
          <a:prstGeom prst="rect">
            <a:avLst/>
          </a:prstGeom>
        </p:spPr>
      </p:pic>
      <p:sp>
        <p:nvSpPr>
          <p:cNvPr id="25" name="Guard text 1"/>
          <p:cNvSpPr txBox="1"/>
          <p:nvPr/>
        </p:nvSpPr>
        <p:spPr>
          <a:xfrm>
            <a:off x="896112" y="324612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Reserve before apply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Funds are held first, so parallel drains can't overdraw a team.</a:t>
            </a:r>
            <a:endParaRPr lang="en-US" sz="1300" dirty="0"/>
          </a:p>
        </p:txBody>
      </p:sp>
      <p:pic>
        <p:nvPicPr>
          <p:cNvPr id="26" name="Guard icon 2" descr="che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4408" y="3291840"/>
            <a:ext cx="256032" cy="256032"/>
          </a:xfrm>
          <a:prstGeom prst="rect">
            <a:avLst/>
          </a:prstGeom>
        </p:spPr>
      </p:pic>
      <p:sp>
        <p:nvSpPr>
          <p:cNvPr id="27" name="Guard text 2"/>
          <p:cNvSpPr txBox="1"/>
          <p:nvPr/>
        </p:nvSpPr>
        <p:spPr>
          <a:xfrm>
            <a:off x="3611880" y="324612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Rules live in SQL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Over-cap, expired or ineligible moves raise an error and the op is flagged.</a:t>
            </a:r>
            <a:endParaRPr lang="en-US" sz="1300" dirty="0"/>
          </a:p>
        </p:txBody>
      </p:sp>
      <p:pic>
        <p:nvPicPr>
          <p:cNvPr id="28" name="Guard icon 3" descr="check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0176" y="3291840"/>
            <a:ext cx="256032" cy="256032"/>
          </a:xfrm>
          <a:prstGeom prst="rect">
            <a:avLst/>
          </a:prstGeom>
        </p:spPr>
      </p:pic>
      <p:sp>
        <p:nvSpPr>
          <p:cNvPr id="29" name="Guard text 3"/>
          <p:cNvSpPr txBox="1"/>
          <p:nvPr/>
        </p:nvSpPr>
        <p:spPr>
          <a:xfrm>
            <a:off x="6327648" y="324612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Notes are untrusted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The agent never follows instructions in request text, and never invents amounts.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WE CREATED THE APP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 Lovable on a full TypeScript stack</a:t>
            </a:r>
            <a:endParaRPr lang="en-US" sz="3000" dirty="0"/>
          </a:p>
        </p:txBody>
      </p:sp>
      <p:sp>
        <p:nvSpPr>
          <p:cNvPr id="4" name="Stack icon bg 1"/>
          <p:cNvSpPr/>
          <p:nvPr/>
        </p:nvSpPr>
        <p:spPr>
          <a:xfrm>
            <a:off x="548640" y="12344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Stack icon 1" descr="Lovab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71600"/>
            <a:ext cx="274320" cy="274320"/>
          </a:xfrm>
          <a:prstGeom prst="rect">
            <a:avLst/>
          </a:prstGeom>
        </p:spPr>
      </p:pic>
      <p:sp>
        <p:nvSpPr>
          <p:cNvPr id="6" name="Stack text 1"/>
          <p:cNvSpPr txBox="1"/>
          <p:nvPr/>
        </p:nvSpPr>
        <p:spPr>
          <a:xfrm>
            <a:off x="1280160" y="1161288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Lovable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AI app builder: we prompted features in, and every change synced to GitHub</a:t>
            </a:r>
            <a:endParaRPr lang="en-US" sz="1500" dirty="0"/>
          </a:p>
        </p:txBody>
      </p:sp>
      <p:sp>
        <p:nvSpPr>
          <p:cNvPr id="7" name="Stack icon bg 2"/>
          <p:cNvSpPr/>
          <p:nvPr/>
        </p:nvSpPr>
        <p:spPr>
          <a:xfrm>
            <a:off x="4663440" y="12344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Stack icon 2" descr="Fronten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371600"/>
            <a:ext cx="274320" cy="274320"/>
          </a:xfrm>
          <a:prstGeom prst="rect">
            <a:avLst/>
          </a:prstGeom>
        </p:spPr>
      </p:pic>
      <p:sp>
        <p:nvSpPr>
          <p:cNvPr id="9" name="Stack text 2"/>
          <p:cNvSpPr txBox="1"/>
          <p:nvPr/>
        </p:nvSpPr>
        <p:spPr>
          <a:xfrm>
            <a:off x="5394960" y="1161288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Frontend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TanStack Start, React 19, Tailwind and shadcn/ui, with live updates</a:t>
            </a:r>
            <a:endParaRPr lang="en-US" sz="1500" dirty="0"/>
          </a:p>
        </p:txBody>
      </p:sp>
      <p:sp>
        <p:nvSpPr>
          <p:cNvPr id="10" name="Stack icon bg 3"/>
          <p:cNvSpPr/>
          <p:nvPr/>
        </p:nvSpPr>
        <p:spPr>
          <a:xfrm>
            <a:off x="548640" y="23317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Stack icon 3" descr="Supabase Postgr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68880"/>
            <a:ext cx="274320" cy="274320"/>
          </a:xfrm>
          <a:prstGeom prst="rect">
            <a:avLst/>
          </a:prstGeom>
        </p:spPr>
      </p:pic>
      <p:sp>
        <p:nvSpPr>
          <p:cNvPr id="12" name="Stack text 3"/>
          <p:cNvSpPr txBox="1"/>
          <p:nvPr/>
        </p:nvSpPr>
        <p:spPr>
          <a:xfrm>
            <a:off x="1280160" y="2258568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Supabase Postgres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Ledger tables, locked money functions, append-only audit trigger, realtime</a:t>
            </a:r>
            <a:endParaRPr lang="en-US" sz="1500" dirty="0"/>
          </a:p>
        </p:txBody>
      </p:sp>
      <p:sp>
        <p:nvSpPr>
          <p:cNvPr id="13" name="Stack icon bg 4"/>
          <p:cNvSpPr/>
          <p:nvPr/>
        </p:nvSpPr>
        <p:spPr>
          <a:xfrm>
            <a:off x="4663440" y="23317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Stack icon 4" descr="AI mode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468880"/>
            <a:ext cx="274320" cy="274320"/>
          </a:xfrm>
          <a:prstGeom prst="rect">
            <a:avLst/>
          </a:prstGeom>
        </p:spPr>
      </p:pic>
      <p:sp>
        <p:nvSpPr>
          <p:cNvPr id="15" name="Stack text 4"/>
          <p:cNvSpPr txBox="1"/>
          <p:nvPr/>
        </p:nvSpPr>
        <p:spPr>
          <a:xfrm>
            <a:off x="5394960" y="2258568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AI model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Claude Haiku via the Nicrron gateway, with Gemini Flash as fallback</a:t>
            </a:r>
            <a:endParaRPr lang="en-US" sz="1500" dirty="0"/>
          </a:p>
        </p:txBody>
      </p:sp>
      <p:sp>
        <p:nvSpPr>
          <p:cNvPr id="16" name="Stack icon bg 5"/>
          <p:cNvSpPr/>
          <p:nvPr/>
        </p:nvSpPr>
        <p:spPr>
          <a:xfrm>
            <a:off x="548640" y="34290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Stack icon 5" descr="Server agent loop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566160"/>
            <a:ext cx="274320" cy="274320"/>
          </a:xfrm>
          <a:prstGeom prst="rect">
            <a:avLst/>
          </a:prstGeom>
        </p:spPr>
      </p:pic>
      <p:sp>
        <p:nvSpPr>
          <p:cNvPr id="18" name="Stack text 5"/>
          <p:cNvSpPr txBox="1"/>
          <p:nvPr/>
        </p:nvSpPr>
        <p:spPr>
          <a:xfrm>
            <a:off x="1280160" y="3355848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Server agent loop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Up to 16 tool-calling turns run server-side; the browser never writes</a:t>
            </a:r>
            <a:endParaRPr lang="en-US" sz="1500" dirty="0"/>
          </a:p>
        </p:txBody>
      </p:sp>
      <p:sp>
        <p:nvSpPr>
          <p:cNvPr id="19" name="Stack icon bg 6"/>
          <p:cNvSpPr/>
          <p:nvPr/>
        </p:nvSpPr>
        <p:spPr>
          <a:xfrm>
            <a:off x="4663440" y="34290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Stack icon 6" descr="PRISM tracing + test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566160"/>
            <a:ext cx="274320" cy="274320"/>
          </a:xfrm>
          <a:prstGeom prst="rect">
            <a:avLst/>
          </a:prstGeom>
        </p:spPr>
      </p:pic>
      <p:sp>
        <p:nvSpPr>
          <p:cNvPr id="21" name="Stack text 6"/>
          <p:cNvSpPr txBox="1"/>
          <p:nvPr/>
        </p:nvSpPr>
        <p:spPr>
          <a:xfrm>
            <a:off x="5394960" y="3355848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PRISM tracing + tests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Every model turn traced to PRISM; Vitest end-to-end test for v2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views for issuers, teams and the demo</a:t>
            </a:r>
            <a:endParaRPr lang="en-US" sz="3000" dirty="0"/>
          </a:p>
        </p:txBody>
      </p:sp>
      <p:sp>
        <p:nvSpPr>
          <p:cNvPr id="4" name="Feature card 1"/>
          <p:cNvSpPr/>
          <p:nvPr/>
        </p:nvSpPr>
        <p:spPr>
          <a:xfrm>
            <a:off x="548640" y="1188720"/>
            <a:ext cx="25603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Feature icon bg 1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Feature icon 1" descr="Program conso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490472"/>
            <a:ext cx="219456" cy="219456"/>
          </a:xfrm>
          <a:prstGeom prst="rect">
            <a:avLst/>
          </a:prstGeom>
        </p:spPr>
      </p:pic>
      <p:sp>
        <p:nvSpPr>
          <p:cNvPr id="7" name="Feature head 1"/>
          <p:cNvSpPr txBox="1"/>
          <p:nvPr/>
        </p:nvSpPr>
        <p:spPr>
          <a:xfrm>
            <a:off x="1325880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Program console</a:t>
            </a:r>
            <a:endParaRPr lang="en-US" sz="1500" dirty="0"/>
          </a:p>
        </p:txBody>
      </p:sp>
      <p:sp>
        <p:nvSpPr>
          <p:cNvPr id="8" name="Feature body 1"/>
          <p:cNvSpPr txBox="1"/>
          <p:nvPr/>
        </p:nvSpPr>
        <p:spPr>
          <a:xfrm>
            <a:off x="731520" y="1920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Budget, issuer pool, caps, expiry and each team's balance</a:t>
            </a:r>
            <a:endParaRPr lang="en-US" sz="1200" dirty="0"/>
          </a:p>
        </p:txBody>
      </p:sp>
      <p:sp>
        <p:nvSpPr>
          <p:cNvPr id="9" name="Feature card 2"/>
          <p:cNvSpPr/>
          <p:nvPr/>
        </p:nvSpPr>
        <p:spPr>
          <a:xfrm>
            <a:off x="3291840" y="1188720"/>
            <a:ext cx="25603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Feature icon bg 2"/>
          <p:cNvSpPr/>
          <p:nvPr/>
        </p:nvSpPr>
        <p:spPr>
          <a:xfrm>
            <a:off x="3474720" y="1371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Feature icon 2" descr="Team walle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1490472"/>
            <a:ext cx="219456" cy="219456"/>
          </a:xfrm>
          <a:prstGeom prst="rect">
            <a:avLst/>
          </a:prstGeom>
        </p:spPr>
      </p:pic>
      <p:sp>
        <p:nvSpPr>
          <p:cNvPr id="12" name="Feature head 2"/>
          <p:cNvSpPr txBox="1"/>
          <p:nvPr/>
        </p:nvSpPr>
        <p:spPr>
          <a:xfrm>
            <a:off x="4069080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Team wallet</a:t>
            </a:r>
            <a:endParaRPr lang="en-US" sz="1500" dirty="0"/>
          </a:p>
        </p:txBody>
      </p:sp>
      <p:sp>
        <p:nvSpPr>
          <p:cNvPr id="13" name="Feature body 2"/>
          <p:cNvSpPr txBox="1"/>
          <p:nvPr/>
        </p:nvSpPr>
        <p:spPr>
          <a:xfrm>
            <a:off x="3474720" y="1920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Teams return credits or request more and watch the agent work</a:t>
            </a:r>
            <a:endParaRPr lang="en-US" sz="1200" dirty="0"/>
          </a:p>
        </p:txBody>
      </p:sp>
      <p:sp>
        <p:nvSpPr>
          <p:cNvPr id="14" name="Feature card 3"/>
          <p:cNvSpPr/>
          <p:nvPr/>
        </p:nvSpPr>
        <p:spPr>
          <a:xfrm>
            <a:off x="6035040" y="1188720"/>
            <a:ext cx="25603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Feature icon bg 3"/>
          <p:cNvSpPr/>
          <p:nvPr/>
        </p:nvSpPr>
        <p:spPr>
          <a:xfrm>
            <a:off x="6217920" y="1371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Feature icon 3" descr="Operations que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1490472"/>
            <a:ext cx="219456" cy="219456"/>
          </a:xfrm>
          <a:prstGeom prst="rect">
            <a:avLst/>
          </a:prstGeom>
        </p:spPr>
      </p:pic>
      <p:sp>
        <p:nvSpPr>
          <p:cNvPr id="17" name="Feature head 3"/>
          <p:cNvSpPr txBox="1"/>
          <p:nvPr/>
        </p:nvSpPr>
        <p:spPr>
          <a:xfrm>
            <a:off x="6812280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Operations queue</a:t>
            </a:r>
            <a:endParaRPr lang="en-US" sz="1500" dirty="0"/>
          </a:p>
        </p:txBody>
      </p:sp>
      <p:sp>
        <p:nvSpPr>
          <p:cNvPr id="18" name="Feature body 3"/>
          <p:cNvSpPr txBox="1"/>
          <p:nvPr/>
        </p:nvSpPr>
        <p:spPr>
          <a:xfrm>
            <a:off x="6217920" y="1920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Live list of moves with status, tool steps and PRISM links</a:t>
            </a:r>
            <a:endParaRPr lang="en-US" sz="1200" dirty="0"/>
          </a:p>
        </p:txBody>
      </p:sp>
      <p:sp>
        <p:nvSpPr>
          <p:cNvPr id="19" name="Feature card 4"/>
          <p:cNvSpPr/>
          <p:nvPr/>
        </p:nvSpPr>
        <p:spPr>
          <a:xfrm>
            <a:off x="548640" y="2834640"/>
            <a:ext cx="25603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Feature icon bg 4"/>
          <p:cNvSpPr/>
          <p:nvPr/>
        </p:nvSpPr>
        <p:spPr>
          <a:xfrm>
            <a:off x="731520" y="3017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Feature icon 4" descr="Reconcilia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3136392"/>
            <a:ext cx="219456" cy="219456"/>
          </a:xfrm>
          <a:prstGeom prst="rect">
            <a:avLst/>
          </a:prstGeom>
        </p:spPr>
      </p:pic>
      <p:sp>
        <p:nvSpPr>
          <p:cNvPr id="22" name="Feature head 4"/>
          <p:cNvSpPr txBox="1"/>
          <p:nvPr/>
        </p:nvSpPr>
        <p:spPr>
          <a:xfrm>
            <a:off x="1325880" y="3017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Reconciliation</a:t>
            </a:r>
            <a:endParaRPr lang="en-US" sz="1500" dirty="0"/>
          </a:p>
        </p:txBody>
      </p:sp>
      <p:sp>
        <p:nvSpPr>
          <p:cNvPr id="23" name="Feature body 4"/>
          <p:cNvSpPr txBox="1"/>
          <p:nvPr/>
        </p:nvSpPr>
        <p:spPr>
          <a:xfrm>
            <a:off x="731520" y="3566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Ledger vs expected balances; mismatches show in red</a:t>
            </a:r>
            <a:endParaRPr lang="en-US" sz="1200" dirty="0"/>
          </a:p>
        </p:txBody>
      </p:sp>
      <p:sp>
        <p:nvSpPr>
          <p:cNvPr id="24" name="Feature card 5"/>
          <p:cNvSpPr/>
          <p:nvPr/>
        </p:nvSpPr>
        <p:spPr>
          <a:xfrm>
            <a:off x="3291840" y="2834640"/>
            <a:ext cx="25603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Feature icon bg 5"/>
          <p:cNvSpPr/>
          <p:nvPr/>
        </p:nvSpPr>
        <p:spPr>
          <a:xfrm>
            <a:off x="3474720" y="3017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Feature icon 5" descr="Audit trai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3592" y="3136392"/>
            <a:ext cx="219456" cy="219456"/>
          </a:xfrm>
          <a:prstGeom prst="rect">
            <a:avLst/>
          </a:prstGeom>
        </p:spPr>
      </p:pic>
      <p:sp>
        <p:nvSpPr>
          <p:cNvPr id="27" name="Feature head 5"/>
          <p:cNvSpPr txBox="1"/>
          <p:nvPr/>
        </p:nvSpPr>
        <p:spPr>
          <a:xfrm>
            <a:off x="4069080" y="3017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Audit trail</a:t>
            </a:r>
            <a:endParaRPr lang="en-US" sz="1500" dirty="0"/>
          </a:p>
        </p:txBody>
      </p:sp>
      <p:sp>
        <p:nvSpPr>
          <p:cNvPr id="28" name="Feature body 5"/>
          <p:cNvSpPr txBox="1"/>
          <p:nvPr/>
        </p:nvSpPr>
        <p:spPr>
          <a:xfrm>
            <a:off x="3474720" y="3566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Append-only log of every request, tool call and result</a:t>
            </a:r>
            <a:endParaRPr lang="en-US" sz="1200" dirty="0"/>
          </a:p>
        </p:txBody>
      </p:sp>
      <p:sp>
        <p:nvSpPr>
          <p:cNvPr id="29" name="Feature card 6"/>
          <p:cNvSpPr/>
          <p:nvPr/>
        </p:nvSpPr>
        <p:spPr>
          <a:xfrm>
            <a:off x="6035040" y="2834640"/>
            <a:ext cx="25603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0" name="Feature icon bg 6"/>
          <p:cNvSpPr/>
          <p:nvPr/>
        </p:nvSpPr>
        <p:spPr>
          <a:xfrm>
            <a:off x="6217920" y="3017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Feature icon 6" descr="Demo control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6792" y="3136392"/>
            <a:ext cx="219456" cy="219456"/>
          </a:xfrm>
          <a:prstGeom prst="rect">
            <a:avLst/>
          </a:prstGeom>
        </p:spPr>
      </p:pic>
      <p:sp>
        <p:nvSpPr>
          <p:cNvPr id="32" name="Feature head 6"/>
          <p:cNvSpPr txBox="1"/>
          <p:nvPr/>
        </p:nvSpPr>
        <p:spPr>
          <a:xfrm>
            <a:off x="6812280" y="3017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Demo control</a:t>
            </a:r>
            <a:endParaRPr lang="en-US" sz="1500" dirty="0"/>
          </a:p>
        </p:txBody>
      </p:sp>
      <p:sp>
        <p:nvSpPr>
          <p:cNvPr id="33" name="Feature body 6"/>
          <p:cNvSpPr txBox="1"/>
          <p:nvPr/>
        </p:nvSpPr>
        <p:spPr>
          <a:xfrm>
            <a:off x="6217920" y="3566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Seed, snapshot and reset data; run the batch on v1 or v2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146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Try the demo: seed, run v1, reset, run v2, and watch the ledger reconcile</a:t>
            </a:r>
            <a:endParaRPr lang="en-US" sz="1800" dirty="0"/>
          </a:p>
        </p:txBody>
      </p:sp>
      <p:sp>
        <p:nvSpPr>
          <p:cNvPr id="4" name="Link">
            <a:hlinkClick r:id="rId1" tooltip=""/>
          </p:cNvPr>
          <p:cNvSpPr txBox="1"/>
          <p:nvPr/>
        </p:nvSpPr>
        <p:spPr>
          <a:xfrm>
            <a:off x="548640" y="36576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preflight-advisor.lovable.app</a:t>
            </a:r>
            <a:endParaRPr lang="en-US" sz="1400" dirty="0"/>
          </a:p>
        </p:txBody>
      </p:sp>
      <p:sp>
        <p:nvSpPr>
          <p:cNvPr id="5" name="Team"/>
          <p:cNvSpPr txBox="1"/>
          <p:nvPr/>
        </p:nvSpPr>
        <p:spPr>
          <a:xfrm>
            <a:off x="548640" y="4160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Frank Yu  ·  Liyan Cheung  ·  Forrest Pan</a:t>
            </a:r>
            <a:endParaRPr lang="en-US" sz="1400" dirty="0"/>
          </a:p>
        </p:txBody>
      </p:sp>
      <p:sp>
        <p:nvSpPr>
          <p:cNvPr id="6" name="Avatar frame"/>
          <p:cNvSpPr/>
          <p:nvPr/>
        </p:nvSpPr>
        <p:spPr>
          <a:xfrm>
            <a:off x="6172200" y="1097280"/>
            <a:ext cx="2468880" cy="2468880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accent3"/>
            </a:solidFill>
            <a:prstDash val="solid"/>
          </a:ln>
        </p:spPr>
      </p:sp>
      <p:pic>
        <p:nvPicPr>
          <p:cNvPr id="7" name="Avatar" descr="JRR Token cat-wizard masc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34440"/>
            <a:ext cx="2194560" cy="2194560"/>
          </a:xfrm>
          <a:prstGeom prst="ellipse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JRR Token">
  <a:themeElements>
    <a:clrScheme name="JRR Token">
      <a:dk1>
        <a:srgbClr val="0E1913"/>
      </a:dk1>
      <a:lt1>
        <a:srgbClr val="FFFFFF"/>
      </a:lt1>
      <a:dk2>
        <a:srgbClr val="005E37"/>
      </a:dk2>
      <a:lt2>
        <a:srgbClr val="EEF5EF"/>
      </a:lt2>
      <a:accent1>
        <a:srgbClr val="005E37"/>
      </a:accent1>
      <a:accent2>
        <a:srgbClr val="14874E"/>
      </a:accent2>
      <a:accent3>
        <a:srgbClr val="BCE3C3"/>
      </a:accent3>
      <a:accent4>
        <a:srgbClr val="CC2827"/>
      </a:accent4>
      <a:accent5>
        <a:srgbClr val="54615A"/>
      </a:accent5>
      <a:accent6>
        <a:srgbClr val="E3A93B"/>
      </a:accent6>
      <a:hlink>
        <a:srgbClr val="005E37"/>
      </a:hlink>
      <a:folHlink>
        <a:srgbClr val="54615A"/>
      </a:folHlink>
    </a:clrScheme>
    <a:fontScheme name="JRR Toke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JRR Token</dc:title>
  <dc:subject>PptxGenJS Presentation</dc:subject>
  <dc:creator>Frank Yu, Liyan Cheung, Forrest Pan</dc:creator>
  <cp:lastModifiedBy>Frank Yu, Liyan Cheung, Forrest Pan</cp:lastModifiedBy>
  <cp:revision>1</cp:revision>
  <dcterms:created xsi:type="dcterms:W3CDTF">2026-10-17T19:38:22Z</dcterms:created>
  <dcterms:modified xsi:type="dcterms:W3CDTF">2026-10-17T19:38:22Z</dcterms:modified>
</cp:coreProperties>
</file>